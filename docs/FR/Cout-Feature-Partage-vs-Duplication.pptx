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616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772400" y="2743200"/>
            <a:ext cx="5486400" cy="5486400"/>
          </a:xfrm>
          <a:prstGeom prst="ellipse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3152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COÛT D'UNE</a:t>
            </a:r>
            <a:br/>
            <a:r>
              <a:t>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73152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CODE PARTAGÉ</a:t>
            </a:r>
            <a:br/>
            <a:r>
              <a:t>vs DUPLIQUÉ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Conclusions clés du modèle de coût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Pourquoi cette analyse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La question centrale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14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Quand une feature doit exister dans plusieurs apps : la construire une fois dans une lib partagée, ou la copier dans chaque app ?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Tout coût suit la feature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Chaque coût est une part du coût de build (heures-personnes × taux chargé). Le taux horaire ne fait jamais basculer le verdict.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Pas une réponse dogmatique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00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La taille de la feature, le nombre d'apps et l'horizon décident. Les deux options peuvent gagner ; l'analyse montre où passe la ligne.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44805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Sourcé, avec ses limites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800600"/>
            <a:ext cx="44805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Modèle de réutilisation COCOMO II, Krüger &amp; Berger 2020, Ray &amp; Kim 2012, coût du travail France 2026. Les hypothèses sont signalées.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L'entretien est un coût récurrent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502920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1148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400" b="1">
                <a:solidFill>
                  <a:srgbClr val="F96167"/>
                </a:solidFill>
                <a:latin typeface="Calibri"/>
              </a:defRPr>
            </a:pPr>
            <a:r>
              <a:t>~20 %/an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4114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0">
                <a:solidFill>
                  <a:srgbClr val="B0B0C0"/>
                </a:solidFill>
                <a:latin typeface="Calibri"/>
              </a:defRPr>
            </a:pPr>
            <a:r>
              <a:t>du coût de build, par copie,</a:t>
            </a:r>
            <a:br/>
            <a:r>
              <a:t>pour faire vivre une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Ordre de grandeur : règle DoD, Glass 60/60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11680"/>
            <a:ext cx="521208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Coût sur 5 ans, une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15468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45 360 € (50 %)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49039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Entretien (5 × 20 %)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069079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45 360 € (50 %)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5720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Le choix se joue dans l'entretien des copies supplémentaires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577840"/>
            <a:ext cx="9966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9E795"/>
                </a:solidFill>
                <a:latin typeface="Calibri"/>
              </a:defRPr>
            </a:pPr>
            <a:r>
              <a:t>Les bugs ne sont pas chiffrés à part : les corriger fait partie de l'entretien (pas de donnée fiable pour aller plus loin)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COÛTS INITIAUX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Au départ : à peu près égal pour 2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4EC9B0"/>
                </a:solidFill>
                <a:latin typeface="Calibri"/>
              </a:defRPr>
            </a:pPr>
            <a:r>
              <a:t>Code Partagé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Build pensé pour le partage : ×1,2 (54 432 €)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Branchement dans l'autre app : 20 % (9 072 €)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Setup d'une nouvelle lib : 280 h (11 340 €)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26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Total initial : 74 844 €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12064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63 504 € si la lib existe déjà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5029200" cy="41148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Code Dupliqué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4320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Build pour la première app : 45 360 €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3756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Copier-adapter dans l'autre : 65 % (29 484 €)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Adapter à ses conventions, ses propres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5262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Total initial : 74 844 €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12064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Identique au partage pour 2 apps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6172200"/>
            <a:ext cx="99669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9E795"/>
                </a:solidFill>
                <a:latin typeface="Calibri"/>
              </a:defRPr>
            </a:pPr>
            <a:r>
              <a:t>Copier n'est pas moins cher au départ — c'est l'entretien récurrent des copies supplémentaires qui décide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ENTRETIEN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Ce qui décide : l'entretien des copies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Chaque copie s'entretient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1,0×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Une copie supplémentaire coûte à peu près autant d'entretien annuel que la première (20 % du build), synchro et corrections répétées comprises. Ray &amp; Kim : 11-16 % des changements portés entre forks.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Les copies dérivent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+0,05/an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Hypothèse, sans donnée : l'entretien d'une copie supplémentaire augmente de 0,05 par an, plafonné à 1,5×. Pas d'exponentielle : des copies trop divergentes ne sont plus synchronisées.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474720" cy="38404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828800"/>
            <a:ext cx="347472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Entretien du partage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560320"/>
            <a:ext cx="29260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4 %/an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291840"/>
            <a:ext cx="292608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Par app supplémentaire : coordination et montées de version cassantes (ordre de grandeur). Plus 24 %/an d'entretien du code partagé, plus gros, et 100 h/an pour faire tourner une nouvelle lib.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6035040"/>
            <a:ext cx="9966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F9E795"/>
                </a:solidFill>
                <a:latin typeface="Calibri"/>
              </a:defRPr>
            </a:pPr>
            <a:r>
              <a:t>Cas de référence : partage 16 751 €/an vs duplication 18 144 € → 19 958 €/an, payés chaque année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PROJECTION À 5 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Scénario de référence (France 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228600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3154679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54679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Année 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Année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Année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0" y="2011680"/>
            <a:ext cx="2011680" cy="54864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0" y="210312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9E795"/>
                </a:solidFill>
                <a:latin typeface="Calibri"/>
              </a:defRPr>
            </a:pPr>
            <a:r>
              <a:t>Année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743200"/>
            <a:ext cx="228600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54864" cy="54864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3464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4EC9B0"/>
                </a:solidFill>
                <a:latin typeface="Calibri"/>
              </a:defRPr>
            </a:pPr>
            <a:r>
              <a:t>Code partagé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79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39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74 844 €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91 595 €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125 096 €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274320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283464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158 598 €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474720"/>
            <a:ext cx="228600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474720"/>
            <a:ext cx="54864" cy="5486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566160"/>
            <a:ext cx="2103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Code dupliqué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79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39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74 844 €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92 988 €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130 637 €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3474720"/>
            <a:ext cx="2011680" cy="5486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35661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170 100 €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3891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Observations clés 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Année 0 : même coût initial (feature de 1 120 h, équipe à 40,50 €/h, 2 apps, nouvelle lib)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Le partage n'est jamais plus cher : il est rentable dès le départ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66928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Année 5 : la duplication coûte 11 502 € de plus (7 %) — 43 092 € de plus si la lib existe déjà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Marge mince pour 2 apps : une généralisation G ≥ 1,33 ou un entretien de copie e0 &lt; 0,75 inverse le verdict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SEUIL DE RENTABILITÉ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Lu sur les mêmes courbes de coût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4297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4EC9B0"/>
                </a:solidFill>
                <a:latin typeface="Calibri"/>
              </a:defRPr>
            </a:pPr>
            <a:r>
              <a:t>Mois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42976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Seuil de rentabilité dans</a:t>
            </a:r>
            <a:br/>
            <a:r>
              <a:t>le scénario de référence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011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9E795"/>
                </a:solidFill>
                <a:latin typeface="Calibri"/>
              </a:defRPr>
            </a:pPr>
            <a:r>
              <a:t>Petite feature (140 h, nouvelle lib)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468880"/>
            <a:ext cx="43891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4EC9B0"/>
                </a:solidFill>
                <a:latin typeface="Calibri"/>
              </a:defRPr>
            </a:pPr>
            <a:r>
              <a:t>Jamais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108960"/>
            <a:ext cx="438912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Sur 5 ans, le partage coûte</a:t>
            </a:r>
            <a:br/>
            <a:r>
              <a:t>2,2× plus cher que la copie</a:t>
            </a:r>
            <a:br/>
            <a:r>
              <a:t>(47 466 € vs 21 263 €)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38912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4EC9B0"/>
                </a:solidFill>
                <a:latin typeface="Calibri"/>
              </a:defRPr>
            </a:pPr>
            <a:r>
              <a:t>Favorise le partage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3776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Feature volumineuse (&gt; ~820 h pour 2 apps)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578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3+ apps (le seuil tombe à ~340 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57784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Une lib partagée existe déjà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978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Horizon long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389120"/>
            <a:ext cx="502920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438912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5262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6B6B"/>
                </a:solidFill>
                <a:latin typeface="Calibri"/>
              </a:defRPr>
            </a:pPr>
            <a:r>
              <a:t>Favorise la copie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3776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Petite feature qui exige une nouvelle lib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5780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Horizon court (1 an : il faut &gt; ~1 030 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57784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Copies bon marché, ou généralisation coûteuse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897880"/>
            <a:ext cx="43891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Copies censées diverger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FACTEUR D'ÉCHELLE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Plus d'apps, plus le partage gagne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2 apps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B0B0C0"/>
                </a:solidFill>
                <a:latin typeface="Calibri"/>
              </a:defRPr>
            </a:pPr>
            <a:r>
              <a:t>1,07x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ratio coût dupliqué / partagé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Le partage économise</a:t>
            </a:r>
            <a:br/>
            <a:r>
              <a:t>~11 500 € sur 5 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3 apps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F9E795"/>
                </a:solidFill>
                <a:latin typeface="Calibri"/>
              </a:defRPr>
            </a:pPr>
            <a:r>
              <a:t>1,41x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ratio coût dupliqué / partagé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Le partage économise</a:t>
            </a:r>
            <a:br/>
            <a:r>
              <a:t>~72 700 € sur 5 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828800"/>
            <a:ext cx="3474720" cy="32004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011680"/>
            <a:ext cx="2926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07080"/>
                </a:solidFill>
                <a:latin typeface="Calibri"/>
              </a:defRPr>
            </a:pPr>
            <a:r>
              <a:t>5 apps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60320"/>
            <a:ext cx="2926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4EC9B0"/>
                </a:solidFill>
                <a:latin typeface="Calibri"/>
              </a:defRPr>
            </a:pPr>
            <a:r>
              <a:t>1,92x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474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707080"/>
                </a:solidFill>
                <a:latin typeface="Calibri"/>
              </a:defRPr>
            </a:pPr>
            <a:r>
              <a:t>ratio coût dupliqué / partagé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93192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B0B0C0"/>
                </a:solidFill>
                <a:latin typeface="Calibri"/>
              </a:defRPr>
            </a:pPr>
            <a:r>
              <a:t>Le partage économise</a:t>
            </a:r>
            <a:br/>
            <a:r>
              <a:t>~195 200 € sur 5 ans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39496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9E795"/>
                </a:solidFill>
                <a:latin typeface="Calibri"/>
              </a:defRPr>
            </a:pPr>
            <a:r>
              <a:t>Explication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760720"/>
            <a:ext cx="9875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Chaque copie supplémentaire coûte 65 % du build au départ, puis une part entière d'entretien chaque année (croissante avec la dérive). Chaque app supplémentaire sur une lib partagée coûte 20 % au départ, puis 4 %/an.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CONTRE-ARGUMENTS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Ce que les chiffres ne disent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Les clones sont souvent inoffensifs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Jusqu'à 71 % des clones jugés bénéfiques</a:t>
            </a:r>
            <a:br/>
            <a:r>
              <a:t>Pas plus sujets aux défauts (Rahman 2012)</a:t>
            </a:r>
            <a:br/>
            <a:r>
              <a:t>→ Toute copie n'est pas un passif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28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828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La mauvaise abstraction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« Duplication is far cheaper than the</a:t>
            </a:r>
            <a:br/>
            <a:r>
              <a:t>wrong abstraction » (Sandi Metz)</a:t>
            </a:r>
            <a:br/>
            <a:r>
              <a:t>→ Une copie censée diverger n'est pas un coût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51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Les breaking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14,8 % des changements d'API cassent (Xavier 2017)</a:t>
            </a:r>
            <a:br/>
            <a:r>
              <a:t>81,5 % des systèmes ont des deps obsolètes (Kula 2018)</a:t>
            </a:r>
            <a:br/>
            <a:r>
              <a:t>→ Chiffré grossièrement : 4 %/an par 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114800"/>
            <a:ext cx="5029200" cy="192024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4114800"/>
            <a:ext cx="54864" cy="192024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251960"/>
            <a:ext cx="4480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Hors modèle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663440"/>
            <a:ext cx="448056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Time-to-market, goulot de release</a:t>
            </a:r>
            <a:br/>
            <a:r>
              <a:t>Cohérence UX, divergence voulue</a:t>
            </a:r>
            <a:br/>
            <a:r>
              <a:t>→ Pas d'actualisation (VAN) non plus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MESURÉ VS HYPOTHÈSE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D'où viennent les chiffres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20040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600" b="1">
                <a:solidFill>
                  <a:srgbClr val="FF6B6B"/>
                </a:solidFill>
                <a:latin typeface="Calibri"/>
              </a:defRPr>
            </a:pPr>
            <a:r>
              <a:t>4 /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B0B0C0"/>
                </a:solidFill>
                <a:latin typeface="Calibri"/>
              </a:defRPr>
            </a:pPr>
            <a:r>
              <a:t>facteurs du modèle</a:t>
            </a:r>
            <a:br/>
            <a:r>
              <a:t>reposent sur des</a:t>
            </a:r>
            <a:br/>
            <a:r>
              <a:t>mesures publiées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2834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0">
                <a:solidFill>
                  <a:srgbClr val="707080"/>
                </a:solidFill>
                <a:latin typeface="Calibri"/>
              </a:defRPr>
            </a:pPr>
            <a:r>
              <a:t>COCOMO II, Krüger &amp; Berger 2020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828800"/>
            <a:ext cx="7132320" cy="228600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9E795"/>
                </a:solidFill>
                <a:latin typeface="Calibri"/>
              </a:defRPr>
            </a:pPr>
            <a:r>
              <a:t>Hypothèses (pas de donnée solide)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60320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Copie en plus : e0 = 1,0 × la première (indice : Ray &amp; Kim)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44368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Dérive +0,05/an, plafond 1,5× — pas d'exponentielle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28415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Coordination + montées de version : 4 %/an du build par app en plus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12463"/>
            <a:ext cx="6583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B0B0C0"/>
                </a:solidFill>
                <a:latin typeface="Calibri"/>
              </a:defRPr>
            </a:pPr>
            <a:r>
              <a:t>›  Nouvelle lib : 280 h de setup, 100 h/an de fonctionnement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89120"/>
            <a:ext cx="10698480" cy="201168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262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9E795"/>
                </a:solidFill>
                <a:latin typeface="Calibri"/>
              </a:defRPr>
            </a:pPr>
            <a:r>
              <a:t>Facteurs mesurés (fourchettes publiées)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Généralisation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×1,2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Portage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9E795"/>
                </a:solidFill>
                <a:latin typeface="Calibri"/>
              </a:defRPr>
            </a:pPr>
            <a:r>
              <a:t>×0,65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Intégration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A500"/>
                </a:solidFill>
                <a:latin typeface="Calibri"/>
              </a:defRPr>
            </a:pPr>
            <a:r>
              <a:t>×0,2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39" y="502920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707080"/>
                </a:solidFill>
                <a:latin typeface="Calibri"/>
              </a:defRPr>
            </a:pPr>
            <a:r>
              <a:t>Entretien / 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39" y="5349240"/>
            <a:ext cx="2286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6B6B"/>
                </a:solidFill>
                <a:latin typeface="Calibri"/>
              </a:defRPr>
            </a:pPr>
            <a:r>
              <a:t>20 %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943600"/>
            <a:ext cx="9601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707080"/>
                </a:solidFill>
                <a:latin typeface="Calibri"/>
              </a:defRPr>
            </a:pPr>
            <a:r>
              <a:t>Les bugs ne sont pas chiffrés à part : la règle 1-10-100 n'est pas soutenue par les données (Menzies et al. 2017)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Comparatif global (% du coût de build)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2004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0" y="1737360"/>
            <a:ext cx="36576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55279" y="1737360"/>
            <a:ext cx="3657600" cy="457200"/>
          </a:xfrm>
          <a:prstGeom prst="rect">
            <a:avLst/>
          </a:prstGeom>
          <a:solidFill>
            <a:srgbClr val="35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9E795"/>
                </a:solidFill>
                <a:latin typeface="Calibri"/>
              </a:defRPr>
            </a:pPr>
            <a:r>
              <a:t>Dimension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78308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4EC9B0"/>
                </a:solidFill>
                <a:latin typeface="Calibri"/>
              </a:defRPr>
            </a:pPr>
            <a:r>
              <a:t>Code Partagé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8308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6B6B"/>
                </a:solidFill>
                <a:latin typeface="Calibri"/>
              </a:defRPr>
            </a:pPr>
            <a:r>
              <a:t>Code Dupliqué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228600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228600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5915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Coût initial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3591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120 % + 20 % par app en plus +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3591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100 % + 65 % par copie en plus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8036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0" y="288036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288036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5351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Entretien annuel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9535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24 % + 4 % par app en 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9535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20 % + ~20 % par copie en plus, croissant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47472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0" y="347472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55279" y="347472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54787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Corrections de bugs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54787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Une fois, à un seul endroit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354787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Dans chaque copie (dans l'entretien)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06908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0" y="406908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79" y="406908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14223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Cohérence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14223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Même code, même comportement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414223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Peut dériver (parfois voulu)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66344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0" y="466344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55279" y="466344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73659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Chaque app en plus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473659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Peu coûteuse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73659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Coûteuse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5257800"/>
            <a:ext cx="32004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0" y="525780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55279" y="5257800"/>
            <a:ext cx="3657600" cy="502920"/>
          </a:xfrm>
          <a:prstGeom prst="rect">
            <a:avLst/>
          </a:prstGeom>
          <a:solidFill>
            <a:srgbClr val="25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33095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Seuil de rentabilité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53309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Dès le départ (cas de référence)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533095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Gagne pour les petites features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5852160"/>
            <a:ext cx="32004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0" y="585216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55279" y="5852160"/>
            <a:ext cx="3657600" cy="5029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925312"/>
            <a:ext cx="30175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Risque principal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6240" y="59253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Mauvaise abstraction, breaking changes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0" y="5925312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B0B0C0"/>
                </a:solidFill>
                <a:latin typeface="Calibri"/>
              </a:defRPr>
            </a:pPr>
            <a:r>
              <a:t>Corrections oubliées, dérive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45720"/>
            <a:ext cx="12191695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96167"/>
                </a:solidFill>
                <a:latin typeface="Calibri"/>
              </a:defRPr>
            </a:pPr>
            <a:r>
              <a:t>RECOMMANDATIONS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Quand choisir quoi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29200" cy="43891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02920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4EC9B0"/>
                </a:solidFill>
                <a:latin typeface="Calibri"/>
              </a:defRPr>
            </a:pPr>
            <a:r>
              <a:t>Privilégier le code partagé si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3+ apps en ont besoin (ou sont prévues)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Feature volumineuse (&gt; ~800 h pour 2 apps)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Horizon de plusieurs années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Une lib partagée existe déjà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634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Les apps doivent se comporter pareil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✓  Généralisation peu coûteuse (G ≤ ~1,3)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828800"/>
            <a:ext cx="5029200" cy="4389120"/>
          </a:xfrm>
          <a:prstGeom prst="rect">
            <a:avLst/>
          </a:prstGeom>
          <a:solidFill>
            <a:srgbClr val="2A2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828800"/>
            <a:ext cx="502920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011680"/>
            <a:ext cx="43891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La copie peut être meilleure si 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6517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Petite feature ou horizon court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15468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Une nouvelle lib pour cette seule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65760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Les copies sont censées diverger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16052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Apps très différentes (généraliser coûte)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66344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Prototype ou MVP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166360"/>
            <a:ext cx="4389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B0B0C0"/>
                </a:solidFill>
                <a:latin typeface="Calibri"/>
              </a:defRPr>
            </a:pPr>
            <a:r>
              <a:t>›  Releases impossibles à coordonner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352190" y="1371600"/>
            <a:ext cx="5486400" cy="5486400"/>
          </a:xfrm>
          <a:prstGeom prst="ellipse">
            <a:avLst/>
          </a:prstGeom>
          <a:solidFill>
            <a:srgbClr val="3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990" y="3931920"/>
            <a:ext cx="1828800" cy="3657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B0B0C0"/>
                </a:solidFill>
                <a:latin typeface="Calibri"/>
              </a:defRPr>
            </a:pPr>
            <a:r>
              <a:t>Coût Feature — Code Partagé vs Dupliqué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