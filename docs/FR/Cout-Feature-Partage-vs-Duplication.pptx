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616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772400" y="2743200"/>
            <a:ext cx="5486400" cy="5486400"/>
          </a:xfrm>
          <a:prstGeom prst="ellipse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7315200" cy="2286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5400" b="1">
                <a:solidFill>
                  <a:srgbClr val="FFFFFF"/>
                </a:solidFill>
                <a:latin typeface="Calibri"/>
              </a:defRPr>
            </a:pPr>
            <a:r>
              <a:t>COÛT D'UNE</a:t>
            </a:r>
            <a:br/>
            <a:r>
              <a:t>FEATURE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926080"/>
            <a:ext cx="73152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CODE PARTAGÉ</a:t>
            </a:r>
            <a:br/>
            <a:r>
              <a:t>vs DUPLIQUÉ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0"/>
            <a:ext cx="73152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Conclusions clés de l'analyse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45720"/>
            <a:ext cx="12191695" cy="36576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>
                <a:solidFill>
                  <a:srgbClr val="F96167"/>
                </a:solidFill>
                <a:latin typeface="Calibri"/>
              </a:defRPr>
            </a:pPr>
            <a:r>
              <a:t>CONTEXTE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Pourquoi cette analyse ?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5029200" cy="192024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54864" cy="1920240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44805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F9E795"/>
                </a:solidFill>
                <a:latin typeface="Calibri"/>
              </a:defRPr>
            </a:pPr>
            <a:r>
              <a:t>La question centrale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514600"/>
            <a:ext cx="448056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Quand on développe une feature pour plusieurs codebases : vaut-il mieux partager le code ou le dupliquer ?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828800"/>
            <a:ext cx="5029200" cy="192024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26480" y="1828800"/>
            <a:ext cx="54864" cy="1920240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011680"/>
            <a:ext cx="44805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F9E795"/>
                </a:solidFill>
                <a:latin typeface="Calibri"/>
              </a:defRPr>
            </a:pPr>
            <a:r>
              <a:t>Impact financier réel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514600"/>
            <a:ext cx="448056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La maintenance représente 50-80% du coût total d'un logiciel. Le choix initial a un effet massif sur le long terme.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4114800"/>
            <a:ext cx="5029200" cy="192024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4114800"/>
            <a:ext cx="54864" cy="1920240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297680"/>
            <a:ext cx="44805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F9E795"/>
                </a:solidFill>
                <a:latin typeface="Calibri"/>
              </a:defRPr>
            </a:pPr>
            <a:r>
              <a:t>Pas une réponse dogmatique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800600"/>
            <a:ext cx="448056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Chaque approche a ses avantages. L'analyse quantifie les coûts pour permettre une décision éclairée.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4114800"/>
            <a:ext cx="5029200" cy="192024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4114800"/>
            <a:ext cx="54864" cy="1920240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4297680"/>
            <a:ext cx="44805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F9E795"/>
                </a:solidFill>
                <a:latin typeface="Calibri"/>
              </a:defRPr>
            </a:pPr>
            <a:r>
              <a:t>Données sourcées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4800600"/>
            <a:ext cx="448056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Basé sur des modèles reconnus (COCOMO II), des études IEEE, et des données salariales France 2025-2026.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45720"/>
            <a:ext cx="12191695" cy="36576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>
                <a:solidFill>
                  <a:srgbClr val="F96167"/>
                </a:solidFill>
                <a:latin typeface="Calibri"/>
              </a:defRPr>
            </a:pPr>
            <a:r>
              <a:t>CONSTAT FONDAMENTAL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La maintenance domine le coût total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011680"/>
            <a:ext cx="5029200" cy="320040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286000"/>
            <a:ext cx="411480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400" b="1">
                <a:solidFill>
                  <a:srgbClr val="F96167"/>
                </a:solidFill>
                <a:latin typeface="Calibri"/>
              </a:defRPr>
            </a:pPr>
            <a:r>
              <a:t>50-80%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474720"/>
            <a:ext cx="41148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0">
                <a:solidFill>
                  <a:srgbClr val="B0B0C0"/>
                </a:solidFill>
                <a:latin typeface="Calibri"/>
              </a:defRPr>
            </a:pPr>
            <a:r>
              <a:t>du coût total d'un logiciel</a:t>
            </a:r>
            <a:br/>
            <a:r>
              <a:t>est de la maintenance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480560"/>
            <a:ext cx="4114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707080"/>
                </a:solidFill>
                <a:latin typeface="Calibri"/>
              </a:defRPr>
            </a:pPr>
            <a:r>
              <a:t>Jusqu'à 90% pour les systèmes legacy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2011680"/>
            <a:ext cx="5212080" cy="320040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2194560"/>
            <a:ext cx="4389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F9E795"/>
                </a:solidFill>
                <a:latin typeface="Calibri"/>
              </a:defRPr>
            </a:pPr>
            <a:r>
              <a:t>Répartition sur 5 ans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834640"/>
            <a:ext cx="2743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Développement initial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3154680"/>
            <a:ext cx="2743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~21% du coût total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3749039"/>
            <a:ext cx="2743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Maintenance et évolution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4069079"/>
            <a:ext cx="2743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~79% du coût total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4572000"/>
            <a:ext cx="4389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4EC9B0"/>
                </a:solidFill>
                <a:latin typeface="Calibri"/>
              </a:defRPr>
            </a:pPr>
            <a:r>
              <a:t>Le choix partage vs duplication impacte surtout les 79% de maintenance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5486400"/>
            <a:ext cx="10698480" cy="640080"/>
          </a:xfrm>
          <a:prstGeom prst="rect">
            <a:avLst/>
          </a:prstGeom>
          <a:solidFill>
            <a:srgbClr val="35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5577840"/>
            <a:ext cx="99669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F9E795"/>
                </a:solidFill>
                <a:latin typeface="Calibri"/>
              </a:defRPr>
            </a:pPr>
            <a:r>
              <a:t>Conclusion : optimiser le développement initial est moins impactant qu'optimiser la maintenance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45720"/>
            <a:ext cx="12191695" cy="36576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>
                <a:solidFill>
                  <a:srgbClr val="F96167"/>
                </a:solidFill>
                <a:latin typeface="Calibri"/>
              </a:defRPr>
            </a:pPr>
            <a:r>
              <a:t>COÛTS INITIAUX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L'investissement de départ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5029200" cy="411480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5029200" cy="54864"/>
          </a:xfrm>
          <a:prstGeom prst="rect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4389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4EC9B0"/>
                </a:solidFill>
                <a:latin typeface="Calibri"/>
              </a:defRPr>
            </a:pPr>
            <a:r>
              <a:t>Code Partagé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743200"/>
            <a:ext cx="4389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›  Dev initial + surcoût généralisation : +30%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337560"/>
            <a:ext cx="4389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›  Setup infrastructure lib : 5-11 sem.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931920"/>
            <a:ext cx="4389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›  CI/CD, documentation, versioning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526280"/>
            <a:ext cx="4389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›  Total setup : ~52 000 €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120640"/>
            <a:ext cx="4389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›  Investissement one-time plus élevé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1828800"/>
            <a:ext cx="5029200" cy="411480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1828800"/>
            <a:ext cx="5029200" cy="54864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2011680"/>
            <a:ext cx="4389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FF6B6B"/>
                </a:solidFill>
                <a:latin typeface="Calibri"/>
              </a:defRPr>
            </a:pPr>
            <a:r>
              <a:t>Code Dupliqué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2743200"/>
            <a:ext cx="4389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›  Dev codebase A : coût de base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3337560"/>
            <a:ext cx="4389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›  Portage codebase B : +50 à 80%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3931920"/>
            <a:ext cx="4389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›  Adaptation design, tests doublés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4526280"/>
            <a:ext cx="4389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›  Total setup : ~43 000 €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5120640"/>
            <a:ext cx="4389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›  Moins cher à court terme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solidFill>
            <a:srgbClr val="35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6172200"/>
            <a:ext cx="99669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F9E795"/>
                </a:solidFill>
                <a:latin typeface="Calibri"/>
              </a:defRPr>
            </a:pPr>
            <a:r>
              <a:t>La duplication semble ~20% moins chère au départ — mais c'est un mirage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45720"/>
            <a:ext cx="12191695" cy="36576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>
                <a:solidFill>
                  <a:srgbClr val="F96167"/>
                </a:solidFill>
                <a:latin typeface="Calibri"/>
              </a:defRPr>
            </a:pPr>
            <a:r>
              <a:t>MAINTENANCE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Le piège : des coûts qui accélèrent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3474720" cy="384048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3474720" cy="54864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29260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1">
                <a:solidFill>
                  <a:srgbClr val="FFFFFF"/>
                </a:solidFill>
                <a:latin typeface="Calibri"/>
              </a:defRPr>
            </a:pPr>
            <a:r>
              <a:t>Double maintenance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560320"/>
            <a:ext cx="292608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FF6B6B"/>
                </a:solidFill>
                <a:latin typeface="Calibri"/>
              </a:defRPr>
            </a:pPr>
            <a:r>
              <a:t>1.8x → 2.0x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291840"/>
            <a:ext cx="2926080" cy="20116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B0B0C0"/>
                </a:solidFill>
                <a:latin typeface="Calibri"/>
              </a:defRPr>
            </a:pPr>
            <a:r>
              <a:t>Chaque bug, chaque évolution, chaque test doit être fait 2 fois. Le facteur augmente chaque année (+0.05/an) car les copies divergent.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59" y="1828800"/>
            <a:ext cx="3474720" cy="384048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80559" y="1828800"/>
            <a:ext cx="3474720" cy="54864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79" y="2011680"/>
            <a:ext cx="29260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1">
                <a:solidFill>
                  <a:srgbClr val="FFFFFF"/>
                </a:solidFill>
                <a:latin typeface="Calibri"/>
              </a:defRPr>
            </a:pPr>
            <a:r>
              <a:t>Synchronisation croissante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79" y="2560320"/>
            <a:ext cx="292608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FF6B6B"/>
                </a:solidFill>
                <a:latin typeface="Calibri"/>
              </a:defRPr>
            </a:pPr>
            <a:r>
              <a:t>+20%/an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3291840"/>
            <a:ext cx="2926080" cy="20116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B0B0C0"/>
                </a:solidFill>
                <a:latin typeface="Calibri"/>
              </a:defRPr>
            </a:pPr>
            <a:r>
              <a:t>Le coût de synchro augmente exponentiellement. Année 1 : ~10K€, Année 3 : ~14K€, Année 5 : ~23K€. Effet boule de neige.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1828800"/>
            <a:ext cx="3474720" cy="384048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0" y="1828800"/>
            <a:ext cx="3474720" cy="54864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03920" y="2011680"/>
            <a:ext cx="29260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1">
                <a:solidFill>
                  <a:srgbClr val="FFFFFF"/>
                </a:solidFill>
                <a:latin typeface="Calibri"/>
              </a:defRPr>
            </a:pPr>
            <a:r>
              <a:t>Bugs propagés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2560320"/>
            <a:ext cx="292608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FF6B6B"/>
                </a:solidFill>
                <a:latin typeface="Calibri"/>
              </a:defRPr>
            </a:pPr>
            <a:r>
              <a:t>33%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3291840"/>
            <a:ext cx="2926080" cy="20116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B0B0C0"/>
                </a:solidFill>
                <a:latin typeface="Calibri"/>
              </a:defRPr>
            </a:pPr>
            <a:r>
              <a:t>Étude IEEE : 1/3 des bugs corrigés dans un clone ne sont jamais corrigés dans l'autre copie. Coût estimé : ~50K€/an.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5943600"/>
            <a:ext cx="10698480" cy="640080"/>
          </a:xfrm>
          <a:prstGeom prst="rect">
            <a:avLst/>
          </a:prstGeom>
          <a:solidFill>
            <a:srgbClr val="35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6035040"/>
            <a:ext cx="99669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500" b="0">
                <a:solidFill>
                  <a:srgbClr val="F9E795"/>
                </a:solidFill>
                <a:latin typeface="Calibri"/>
              </a:defRPr>
            </a:pPr>
            <a:r>
              <a:t>La duplication n'est viable que pour des features à durée de vie courte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45720"/>
            <a:ext cx="12191695" cy="36576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>
                <a:solidFill>
                  <a:srgbClr val="F96167"/>
                </a:solidFill>
                <a:latin typeface="Calibri"/>
              </a:defRPr>
            </a:pPr>
            <a:r>
              <a:t>PROJECTION À 3 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Comparaison chiffrée (contexte France)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011680"/>
            <a:ext cx="2286000" cy="548640"/>
          </a:xfrm>
          <a:prstGeom prst="rect">
            <a:avLst/>
          </a:prstGeom>
          <a:solidFill>
            <a:srgbClr val="35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9E795"/>
                </a:solidFill>
                <a:latin typeface="Calibri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3154679" y="2011680"/>
            <a:ext cx="2011680" cy="548640"/>
          </a:xfrm>
          <a:prstGeom prst="rect">
            <a:avLst/>
          </a:prstGeom>
          <a:solidFill>
            <a:srgbClr val="35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54679" y="2103120"/>
            <a:ext cx="20116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9E795"/>
                </a:solidFill>
                <a:latin typeface="Calibri"/>
              </a:defRPr>
            </a:pPr>
            <a:r>
              <a:t>Année 0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0" y="2011680"/>
            <a:ext cx="2011680" cy="548640"/>
          </a:xfrm>
          <a:prstGeom prst="rect">
            <a:avLst/>
          </a:prstGeom>
          <a:solidFill>
            <a:srgbClr val="35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0" y="2103120"/>
            <a:ext cx="20116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9E795"/>
                </a:solidFill>
                <a:latin typeface="Calibri"/>
              </a:defRPr>
            </a:pPr>
            <a:r>
              <a:t>Année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52360" y="2011680"/>
            <a:ext cx="2011680" cy="548640"/>
          </a:xfrm>
          <a:prstGeom prst="rect">
            <a:avLst/>
          </a:prstGeom>
          <a:solidFill>
            <a:srgbClr val="35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52360" y="2103120"/>
            <a:ext cx="20116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9E795"/>
                </a:solidFill>
                <a:latin typeface="Calibri"/>
              </a:defRPr>
            </a:pPr>
            <a:r>
              <a:t>Année 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01200" y="2011680"/>
            <a:ext cx="2011680" cy="548640"/>
          </a:xfrm>
          <a:prstGeom prst="rect">
            <a:avLst/>
          </a:prstGeom>
          <a:solidFill>
            <a:srgbClr val="35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0" y="2103120"/>
            <a:ext cx="20116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9E795"/>
                </a:solidFill>
                <a:latin typeface="Calibri"/>
              </a:defRPr>
            </a:pPr>
            <a:r>
              <a:t>Année 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2743200"/>
            <a:ext cx="2286000" cy="54864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2743200"/>
            <a:ext cx="54864" cy="548640"/>
          </a:xfrm>
          <a:prstGeom prst="rect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2834640"/>
            <a:ext cx="2103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4EC9B0"/>
                </a:solidFill>
                <a:latin typeface="Calibri"/>
              </a:defRPr>
            </a:pPr>
            <a:r>
              <a:t>Code partagé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54679" y="2743200"/>
            <a:ext cx="2011680" cy="54864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91839" y="283464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52 000 €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03520" y="2743200"/>
            <a:ext cx="2011680" cy="54864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40680" y="283464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119 000 €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52360" y="2743200"/>
            <a:ext cx="2011680" cy="54864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9520" y="283464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186 000 €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01200" y="2743200"/>
            <a:ext cx="2011680" cy="54864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38360" y="283464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253 000 €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3474720"/>
            <a:ext cx="2286000" cy="54864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1520" y="3474720"/>
            <a:ext cx="54864" cy="54864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3566160"/>
            <a:ext cx="2103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FF6B6B"/>
                </a:solidFill>
                <a:latin typeface="Calibri"/>
              </a:defRPr>
            </a:pPr>
            <a:r>
              <a:t>Code dupliqué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154679" y="3474720"/>
            <a:ext cx="2011680" cy="54864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91839" y="356616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43 000 €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303520" y="3474720"/>
            <a:ext cx="2011680" cy="54864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40680" y="356616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114 000 €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52360" y="3474720"/>
            <a:ext cx="2011680" cy="54864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89520" y="356616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187 000 €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01200" y="3474720"/>
            <a:ext cx="2011680" cy="54864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38360" y="356616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263 000 €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4389120"/>
            <a:ext cx="4572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F9E795"/>
                </a:solidFill>
                <a:latin typeface="Calibri"/>
              </a:defRPr>
            </a:pPr>
            <a:r>
              <a:t>Observations clés :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" y="4846320"/>
            <a:ext cx="10515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›  Le code partagé coûte +9 000€ de plus à l'année 0 (investissement setup)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257800"/>
            <a:ext cx="10515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›  Dès l'année 1, les coûts cumulés sont quasi identiques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5669280"/>
            <a:ext cx="10515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›  À partir de l'année 2, la duplication devient plus coûteuse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" y="6080760"/>
            <a:ext cx="10515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›  Année 3 : la duplication coûte ~10 000€ de plus — et l'écart s'accélère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45720"/>
            <a:ext cx="12191695" cy="36576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>
                <a:solidFill>
                  <a:srgbClr val="F96167"/>
                </a:solidFill>
                <a:latin typeface="Calibri"/>
              </a:defRPr>
            </a:pPr>
            <a:r>
              <a:t>POINT DE CROISEMENT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Quand le partage devient rentable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5029200" cy="228600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03120"/>
            <a:ext cx="429768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4800" b="1">
                <a:solidFill>
                  <a:srgbClr val="4EC9B0"/>
                </a:solidFill>
                <a:latin typeface="Calibri"/>
              </a:defRPr>
            </a:pPr>
            <a:r>
              <a:t>6 à 18 mois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42976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600" b="0">
                <a:solidFill>
                  <a:srgbClr val="B0B0C0"/>
                </a:solidFill>
                <a:latin typeface="Calibri"/>
              </a:defRPr>
            </a:pPr>
            <a:r>
              <a:t>Break-even typique</a:t>
            </a:r>
            <a:br/>
            <a:r>
              <a:t>pour l'approche code partagé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828800"/>
            <a:ext cx="5029200" cy="228600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2011680"/>
            <a:ext cx="4389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F9E795"/>
                </a:solidFill>
                <a:latin typeface="Calibri"/>
              </a:defRPr>
            </a:pPr>
            <a:r>
              <a:t>Dans notre exemple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468880"/>
            <a:ext cx="438912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4EC9B0"/>
                </a:solidFill>
                <a:latin typeface="Calibri"/>
              </a:defRPr>
            </a:pPr>
            <a:r>
              <a:t>~18 mois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3108960"/>
            <a:ext cx="438912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Le surcoût initial de 26 000€ est</a:t>
            </a:r>
            <a:br/>
            <a:r>
              <a:t>amorti par les économies mensuelles</a:t>
            </a:r>
            <a:br/>
            <a:r>
              <a:t>de ~1 400€/mois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389120"/>
            <a:ext cx="5029200" cy="201168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4389120"/>
            <a:ext cx="5029200" cy="54864"/>
          </a:xfrm>
          <a:prstGeom prst="rect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526280"/>
            <a:ext cx="4389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4EC9B0"/>
                </a:solidFill>
                <a:latin typeface="Calibri"/>
              </a:defRPr>
            </a:pPr>
            <a:r>
              <a:t>Raccourcit le break-even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937760"/>
            <a:ext cx="43891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B0B0C0"/>
                </a:solidFill>
                <a:latin typeface="Calibri"/>
              </a:defRPr>
            </a:pPr>
            <a:r>
              <a:t>›  Feature volumineuse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257800"/>
            <a:ext cx="43891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B0B0C0"/>
                </a:solidFill>
                <a:latin typeface="Calibri"/>
              </a:defRPr>
            </a:pPr>
            <a:r>
              <a:t>›  Évolutions fréquentes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577840"/>
            <a:ext cx="43891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B0B0C0"/>
                </a:solidFill>
                <a:latin typeface="Calibri"/>
              </a:defRPr>
            </a:pPr>
            <a:r>
              <a:t>›  Bugs fréquents en prod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897880"/>
            <a:ext cx="43891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B0B0C0"/>
                </a:solidFill>
                <a:latin typeface="Calibri"/>
              </a:defRPr>
            </a:pPr>
            <a:r>
              <a:t>›  3+ codebases consumers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4389120"/>
            <a:ext cx="5029200" cy="201168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0" y="4389120"/>
            <a:ext cx="5029200" cy="54864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0" y="4526280"/>
            <a:ext cx="4389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FF6B6B"/>
                </a:solidFill>
                <a:latin typeface="Calibri"/>
              </a:defRPr>
            </a:pPr>
            <a:r>
              <a:t>Allonge le break-even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4937760"/>
            <a:ext cx="43891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B0B0C0"/>
                </a:solidFill>
                <a:latin typeface="Calibri"/>
              </a:defRPr>
            </a:pPr>
            <a:r>
              <a:t>›  Feature petite et stable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5257800"/>
            <a:ext cx="43891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B0B0C0"/>
                </a:solidFill>
                <a:latin typeface="Calibri"/>
              </a:defRPr>
            </a:pPr>
            <a:r>
              <a:t>›  Coordination très coûteuse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5577840"/>
            <a:ext cx="43891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B0B0C0"/>
                </a:solidFill>
                <a:latin typeface="Calibri"/>
              </a:defRPr>
            </a:pPr>
            <a:r>
              <a:t>›  Codebases très différentes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5897880"/>
            <a:ext cx="43891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B0B0C0"/>
                </a:solidFill>
                <a:latin typeface="Calibri"/>
              </a:defRPr>
            </a:pPr>
            <a:r>
              <a:t>›  Feature en fin de vie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45720"/>
            <a:ext cx="12191695" cy="36576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>
                <a:solidFill>
                  <a:srgbClr val="F96167"/>
                </a:solidFill>
                <a:latin typeface="Calibri"/>
              </a:defRPr>
            </a:pPr>
            <a:r>
              <a:t>FACTEUR D'ÉCHELLE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Plus on scale, plus le partage gagne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3474720" cy="320040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29260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707080"/>
                </a:solidFill>
                <a:latin typeface="Calibri"/>
              </a:defRPr>
            </a:pPr>
            <a:r>
              <a:t>2 codebases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60320"/>
            <a:ext cx="292608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5200" b="1">
                <a:solidFill>
                  <a:srgbClr val="B0B0C0"/>
                </a:solidFill>
                <a:latin typeface="Calibri"/>
              </a:defRPr>
            </a:pPr>
            <a:r>
              <a:t>1.04x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474720"/>
            <a:ext cx="29260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100" b="0">
                <a:solidFill>
                  <a:srgbClr val="707080"/>
                </a:solidFill>
                <a:latin typeface="Calibri"/>
              </a:defRPr>
            </a:pPr>
            <a:r>
              <a:t>ratio coût dupliqué / partagé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931920"/>
            <a:ext cx="29260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B0B0C0"/>
                </a:solidFill>
                <a:latin typeface="Calibri"/>
              </a:defRPr>
            </a:pPr>
            <a:r>
              <a:t>Quasi équivalent</a:t>
            </a:r>
            <a:br/>
            <a:r>
              <a:t>sur 3 ans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59" y="1828800"/>
            <a:ext cx="3474720" cy="320040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79" y="2011680"/>
            <a:ext cx="29260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707080"/>
                </a:solidFill>
                <a:latin typeface="Calibri"/>
              </a:defRPr>
            </a:pPr>
            <a:r>
              <a:t>3 codebases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79" y="2560320"/>
            <a:ext cx="292608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5200" b="1">
                <a:solidFill>
                  <a:srgbClr val="F9E795"/>
                </a:solidFill>
                <a:latin typeface="Calibri"/>
              </a:defRPr>
            </a:pPr>
            <a:r>
              <a:t>1.56x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79" y="3474720"/>
            <a:ext cx="29260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100" b="0">
                <a:solidFill>
                  <a:srgbClr val="707080"/>
                </a:solidFill>
                <a:latin typeface="Calibri"/>
              </a:defRPr>
            </a:pPr>
            <a:r>
              <a:t>ratio coût dupliqué / partagé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3931920"/>
            <a:ext cx="29260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B0B0C0"/>
                </a:solidFill>
                <a:latin typeface="Calibri"/>
              </a:defRPr>
            </a:pPr>
            <a:r>
              <a:t>Le partage économise</a:t>
            </a:r>
            <a:br/>
            <a:r>
              <a:t>~160 000€ sur 3 ans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1828800"/>
            <a:ext cx="3474720" cy="320040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0" y="2011680"/>
            <a:ext cx="29260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707080"/>
                </a:solidFill>
                <a:latin typeface="Calibri"/>
              </a:defRPr>
            </a:pPr>
            <a:r>
              <a:t>5 codebases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2560320"/>
            <a:ext cx="292608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5200" b="1">
                <a:solidFill>
                  <a:srgbClr val="4EC9B0"/>
                </a:solidFill>
                <a:latin typeface="Calibri"/>
              </a:defRPr>
            </a:pPr>
            <a:r>
              <a:t>2.47x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3474720"/>
            <a:ext cx="29260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100" b="0">
                <a:solidFill>
                  <a:srgbClr val="707080"/>
                </a:solidFill>
                <a:latin typeface="Calibri"/>
              </a:defRPr>
            </a:pPr>
            <a:r>
              <a:t>ratio coût dupliqué / partagé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3931920"/>
            <a:ext cx="29260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B0B0C0"/>
                </a:solidFill>
                <a:latin typeface="Calibri"/>
              </a:defRPr>
            </a:pPr>
            <a:r>
              <a:t>La duplication coûte</a:t>
            </a:r>
            <a:br/>
            <a:r>
              <a:t>2.5x plus cher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5303520"/>
            <a:ext cx="10698480" cy="109728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539496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F9E795"/>
                </a:solidFill>
                <a:latin typeface="Calibri"/>
              </a:defRPr>
            </a:pPr>
            <a:r>
              <a:t>Explication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760720"/>
            <a:ext cx="987552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B0B0C0"/>
                </a:solidFill>
                <a:latin typeface="Calibri"/>
              </a:defRPr>
            </a:pPr>
            <a:r>
              <a:t>Avec du code dupliqué, chaque nouvelle codebase multiplie les coûts quasi-linéairement. Avec du code partagé, le coût marginal de chaque nouveau consumer est minimal (~5-10% du coût de portage).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45720"/>
            <a:ext cx="12191695" cy="36576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>
                <a:solidFill>
                  <a:srgbClr val="F96167"/>
                </a:solidFill>
                <a:latin typeface="Calibri"/>
              </a:defRPr>
            </a:pPr>
            <a:r>
              <a:t>IMPACT ORGANISATIONNEL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Au-delà du code : l'impact sur l'équipe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5029200" cy="192024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54864" cy="1920240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65960"/>
            <a:ext cx="44805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F9E795"/>
                </a:solidFill>
                <a:latin typeface="Calibri"/>
              </a:defRPr>
            </a:pPr>
            <a:r>
              <a:t>Onboarding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77440"/>
            <a:ext cx="4480560" cy="12801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B0B0C0"/>
                </a:solidFill>
                <a:latin typeface="Calibri"/>
              </a:defRPr>
            </a:pPr>
            <a:r>
              <a:t>Code partagé : 1 source à apprendre</a:t>
            </a:r>
            <a:br/>
            <a:r>
              <a:t>Code dupliqué : N sources + leurs différences</a:t>
            </a:r>
            <a:br/>
            <a:r>
              <a:t>→ +1-2 semaines d'onboarding avec duplication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828800"/>
            <a:ext cx="5029200" cy="192024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26480" y="1828800"/>
            <a:ext cx="54864" cy="1920240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965960"/>
            <a:ext cx="44805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F9E795"/>
                </a:solidFill>
                <a:latin typeface="Calibri"/>
              </a:defRPr>
            </a:pPr>
            <a:r>
              <a:t>QA / Testing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377440"/>
            <a:ext cx="4480560" cy="12801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B0B0C0"/>
                </a:solidFill>
                <a:latin typeface="Calibri"/>
              </a:defRPr>
            </a:pPr>
            <a:r>
              <a:t>Duplication = double effort de test</a:t>
            </a:r>
            <a:br/>
            <a:r>
              <a:t>QA = 20-30% de l'effort dev (standard)</a:t>
            </a:r>
            <a:br/>
            <a:r>
              <a:t>→ Doublé avec la duplication, pas avec le partage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4114800"/>
            <a:ext cx="5029200" cy="192024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4114800"/>
            <a:ext cx="54864" cy="1920240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251960"/>
            <a:ext cx="44805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F9E795"/>
                </a:solidFill>
                <a:latin typeface="Calibri"/>
              </a:defRPr>
            </a:pPr>
            <a:r>
              <a:t>Product Management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663440"/>
            <a:ext cx="4480560" cy="12801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B0B0C0"/>
                </a:solidFill>
                <a:latin typeface="Calibri"/>
              </a:defRPr>
            </a:pPr>
            <a:r>
              <a:t>Partagé : 1 backlog unifié</a:t>
            </a:r>
            <a:br/>
            <a:r>
              <a:t>Dupliqué : 2 backlogs à coordonner</a:t>
            </a:r>
            <a:br/>
            <a:r>
              <a:t>→ Gestion d'incidents 1.5-2x plus coûteuse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4114800"/>
            <a:ext cx="5029200" cy="192024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4114800"/>
            <a:ext cx="54864" cy="1920240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4251960"/>
            <a:ext cx="44805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F9E795"/>
                </a:solidFill>
                <a:latin typeface="Calibri"/>
              </a:defRPr>
            </a:pPr>
            <a:r>
              <a:t>Cohérence UX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4663440"/>
            <a:ext cx="4480560" cy="12801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B0B0C0"/>
                </a:solidFill>
                <a:latin typeface="Calibri"/>
              </a:defRPr>
            </a:pPr>
            <a:r>
              <a:t>Partagé : garantie par le code</a:t>
            </a:r>
            <a:br/>
            <a:r>
              <a:t>Dupliqué : dégradation progressive</a:t>
            </a:r>
            <a:br/>
            <a:r>
              <a:t>→ Les copies divergent inévitablement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45720"/>
            <a:ext cx="12191695" cy="36576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>
                <a:solidFill>
                  <a:srgbClr val="F96167"/>
                </a:solidFill>
                <a:latin typeface="Calibri"/>
              </a:defRPr>
            </a:pPr>
            <a:r>
              <a:t>DETTE TECHNIQUE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La duplication alimente la dette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3200400" cy="228600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283464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5600" b="1">
                <a:solidFill>
                  <a:srgbClr val="FF6B6B"/>
                </a:solidFill>
                <a:latin typeface="Calibri"/>
              </a:defRPr>
            </a:pPr>
            <a:r>
              <a:t>42%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017520"/>
            <a:ext cx="283464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0">
                <a:solidFill>
                  <a:srgbClr val="B0B0C0"/>
                </a:solidFill>
                <a:latin typeface="Calibri"/>
              </a:defRPr>
            </a:pPr>
            <a:r>
              <a:t>du temps dev est perdu</a:t>
            </a:r>
            <a:br/>
            <a:r>
              <a:t>en dette technique</a:t>
            </a:r>
            <a:br/>
            <a:r>
              <a:t>et code de mauvaise qualité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749039"/>
            <a:ext cx="28346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000" b="0">
                <a:solidFill>
                  <a:srgbClr val="707080"/>
                </a:solidFill>
                <a:latin typeface="Calibri"/>
              </a:defRPr>
            </a:pPr>
            <a:r>
              <a:t>Stripe Developer Coefficient, 2018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828800"/>
            <a:ext cx="7132320" cy="228600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0"/>
            <a:ext cx="65836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F9E795"/>
                </a:solidFill>
                <a:latin typeface="Calibri"/>
              </a:defRPr>
            </a:pPr>
            <a:r>
              <a:t>Duplication = accélérateur de dette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560320"/>
            <a:ext cx="65836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B0B0C0"/>
                </a:solidFill>
                <a:latin typeface="Calibri"/>
              </a:defRPr>
            </a:pPr>
            <a:r>
              <a:t>›  Le facteur de divergence augmente avec le temps (1.0 → 3.0-5.0 après 2 ans)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944368"/>
            <a:ext cx="65836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B0B0C0"/>
                </a:solidFill>
                <a:latin typeface="Calibri"/>
              </a:defRPr>
            </a:pPr>
            <a:r>
              <a:t>›  Le code churn double, augmentant la probabilité de bugs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3328415"/>
            <a:ext cx="65836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B0B0C0"/>
                </a:solidFill>
                <a:latin typeface="Calibri"/>
              </a:defRPr>
            </a:pPr>
            <a:r>
              <a:t>›  Le coût pour l'économie US : 2 410 milliards $ (CISQ 2022)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712463"/>
            <a:ext cx="65836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B0B0C0"/>
                </a:solidFill>
                <a:latin typeface="Calibri"/>
              </a:defRPr>
            </a:pPr>
            <a:r>
              <a:t>›  Cible : Technical Debt Ratio ≤ 5% — la duplication fait exploser ce ratio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4389120"/>
            <a:ext cx="10698480" cy="201168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526280"/>
            <a:ext cx="5486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F9E795"/>
                </a:solidFill>
                <a:latin typeface="Calibri"/>
              </a:defRPr>
            </a:pPr>
            <a:r>
              <a:t>Coût des bugs selon la phase de détection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2920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707080"/>
                </a:solidFill>
                <a:latin typeface="Calibri"/>
              </a:defRPr>
            </a:pPr>
            <a:r>
              <a:t>Design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5349240"/>
            <a:ext cx="22860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1x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502920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707080"/>
                </a:solidFill>
                <a:latin typeface="Calibri"/>
              </a:defRPr>
            </a:pPr>
            <a:r>
              <a:t>Implémentation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5349240"/>
            <a:ext cx="22860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800" b="1">
                <a:solidFill>
                  <a:srgbClr val="F9E795"/>
                </a:solidFill>
                <a:latin typeface="Calibri"/>
              </a:defRPr>
            </a:pPr>
            <a:r>
              <a:t>3-5x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502920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707080"/>
                </a:solidFill>
                <a:latin typeface="Calibri"/>
              </a:defRPr>
            </a:pPr>
            <a:r>
              <a:t>QA / Testing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5349240"/>
            <a:ext cx="22860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800" b="1">
                <a:solidFill>
                  <a:srgbClr val="FFA500"/>
                </a:solidFill>
                <a:latin typeface="Calibri"/>
              </a:defRPr>
            </a:pPr>
            <a:r>
              <a:t>5-10x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39" y="502920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707080"/>
                </a:solidFill>
                <a:latin typeface="Calibri"/>
              </a:defRPr>
            </a:pPr>
            <a:r>
              <a:t>Production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39" y="5349240"/>
            <a:ext cx="22860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800" b="1">
                <a:solidFill>
                  <a:srgbClr val="FF6B6B"/>
                </a:solidFill>
                <a:latin typeface="Calibri"/>
              </a:defRPr>
            </a:pPr>
            <a:r>
              <a:t>10-30x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5943600"/>
            <a:ext cx="9601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707080"/>
                </a:solidFill>
                <a:latin typeface="Calibri"/>
              </a:defRPr>
            </a:pPr>
            <a:r>
              <a:t>Avec la duplication, les bugs en prod touchent potentiellement 2 codebases → coût encore amplifié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45720"/>
            <a:ext cx="12191695" cy="36576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>
                <a:solidFill>
                  <a:srgbClr val="F96167"/>
                </a:solidFill>
                <a:latin typeface="Calibri"/>
              </a:defRPr>
            </a:pPr>
            <a:r>
              <a:t>SYNTHÈSE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Comparatif global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737360"/>
            <a:ext cx="3200400" cy="457200"/>
          </a:xfrm>
          <a:prstGeom prst="rect">
            <a:avLst/>
          </a:prstGeom>
          <a:solidFill>
            <a:srgbClr val="35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0" y="1737360"/>
            <a:ext cx="3657600" cy="457200"/>
          </a:xfrm>
          <a:prstGeom prst="rect">
            <a:avLst/>
          </a:prstGeom>
          <a:solidFill>
            <a:srgbClr val="35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955279" y="1737360"/>
            <a:ext cx="3657600" cy="457200"/>
          </a:xfrm>
          <a:prstGeom prst="rect">
            <a:avLst/>
          </a:prstGeom>
          <a:solidFill>
            <a:srgbClr val="35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30175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F9E795"/>
                </a:solidFill>
                <a:latin typeface="Calibri"/>
              </a:defRPr>
            </a:pPr>
            <a:r>
              <a:t>Dimension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1783080"/>
            <a:ext cx="3474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4EC9B0"/>
                </a:solidFill>
                <a:latin typeface="Calibri"/>
              </a:defRPr>
            </a:pPr>
            <a:r>
              <a:t>Code Partagé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1783080"/>
            <a:ext cx="3474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FF6B6B"/>
                </a:solidFill>
                <a:latin typeface="Calibri"/>
              </a:defRPr>
            </a:pPr>
            <a:r>
              <a:t>Code Dupliqué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86000"/>
            <a:ext cx="3200400" cy="50292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0" y="2286000"/>
            <a:ext cx="3657600" cy="50292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55279" y="2286000"/>
            <a:ext cx="3657600" cy="50292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359152"/>
            <a:ext cx="30175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Coût initial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2359152"/>
            <a:ext cx="3474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B0B0C0"/>
                </a:solidFill>
                <a:latin typeface="Calibri"/>
              </a:defRPr>
            </a:pPr>
            <a:r>
              <a:t>+30-50%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359152"/>
            <a:ext cx="3474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B0B0C0"/>
                </a:solidFill>
                <a:latin typeface="Calibri"/>
              </a:defRPr>
            </a:pPr>
            <a:r>
              <a:t>~170-220% d'une feature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2880360"/>
            <a:ext cx="3200400" cy="502920"/>
          </a:xfrm>
          <a:prstGeom prst="rect">
            <a:avLst/>
          </a:prstGeom>
          <a:solidFill>
            <a:srgbClr val="25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14800" y="2880360"/>
            <a:ext cx="3657600" cy="502920"/>
          </a:xfrm>
          <a:prstGeom prst="rect">
            <a:avLst/>
          </a:prstGeom>
          <a:solidFill>
            <a:srgbClr val="25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55279" y="2880360"/>
            <a:ext cx="3657600" cy="502920"/>
          </a:xfrm>
          <a:prstGeom prst="rect">
            <a:avLst/>
          </a:prstGeom>
          <a:solidFill>
            <a:srgbClr val="25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2953512"/>
            <a:ext cx="30175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Maintenance annuelle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2953512"/>
            <a:ext cx="3474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B0B0C0"/>
                </a:solidFill>
                <a:latin typeface="Calibri"/>
              </a:defRPr>
            </a:pPr>
            <a:r>
              <a:t>15-25% du dev initial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953512"/>
            <a:ext cx="3474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B0B0C0"/>
                </a:solidFill>
                <a:latin typeface="Calibri"/>
              </a:defRPr>
            </a:pPr>
            <a:r>
              <a:t>30-50% (double)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3474720"/>
            <a:ext cx="3200400" cy="50292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0" y="3474720"/>
            <a:ext cx="3657600" cy="50292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55279" y="3474720"/>
            <a:ext cx="3657600" cy="50292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3547872"/>
            <a:ext cx="30175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Risque de bugs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06240" y="3547872"/>
            <a:ext cx="3474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B0B0C0"/>
                </a:solidFill>
                <a:latin typeface="Calibri"/>
              </a:defRPr>
            </a:pPr>
            <a:r>
              <a:t>1x (source unique)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0" y="3547872"/>
            <a:ext cx="3474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B0B0C0"/>
                </a:solidFill>
                <a:latin typeface="Calibri"/>
              </a:defRPr>
            </a:pPr>
            <a:r>
              <a:t>33% bugs propagés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4069080"/>
            <a:ext cx="3200400" cy="502920"/>
          </a:xfrm>
          <a:prstGeom prst="rect">
            <a:avLst/>
          </a:prstGeom>
          <a:solidFill>
            <a:srgbClr val="25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0" y="4069080"/>
            <a:ext cx="3657600" cy="502920"/>
          </a:xfrm>
          <a:prstGeom prst="rect">
            <a:avLst/>
          </a:prstGeom>
          <a:solidFill>
            <a:srgbClr val="25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55279" y="4069080"/>
            <a:ext cx="3657600" cy="502920"/>
          </a:xfrm>
          <a:prstGeom prst="rect">
            <a:avLst/>
          </a:prstGeom>
          <a:solidFill>
            <a:srgbClr val="25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4142232"/>
            <a:ext cx="30175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Cohérence UX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06240" y="4142232"/>
            <a:ext cx="3474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B0B0C0"/>
                </a:solidFill>
                <a:latin typeface="Calibri"/>
              </a:defRPr>
            </a:pPr>
            <a:r>
              <a:t>Garantie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46720" y="4142232"/>
            <a:ext cx="3474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B0B0C0"/>
                </a:solidFill>
                <a:latin typeface="Calibri"/>
              </a:defRPr>
            </a:pPr>
            <a:r>
              <a:t>Se dégrade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0" y="4663440"/>
            <a:ext cx="3200400" cy="50292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114800" y="4663440"/>
            <a:ext cx="3657600" cy="50292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955279" y="4663440"/>
            <a:ext cx="3657600" cy="50292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960" y="4736592"/>
            <a:ext cx="30175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Scalabilité (N codebases)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06240" y="4736592"/>
            <a:ext cx="3474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B0B0C0"/>
                </a:solidFill>
                <a:latin typeface="Calibri"/>
              </a:defRPr>
            </a:pPr>
            <a:r>
              <a:t>Excellent (linéaire)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46720" y="4736592"/>
            <a:ext cx="3474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B0B0C0"/>
                </a:solidFill>
                <a:latin typeface="Calibri"/>
              </a:defRPr>
            </a:pPr>
            <a:r>
              <a:t>Mauvais (N × coût)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31520" y="5257800"/>
            <a:ext cx="3200400" cy="502920"/>
          </a:xfrm>
          <a:prstGeom prst="rect">
            <a:avLst/>
          </a:prstGeom>
          <a:solidFill>
            <a:srgbClr val="25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114800" y="5257800"/>
            <a:ext cx="3657600" cy="502920"/>
          </a:xfrm>
          <a:prstGeom prst="rect">
            <a:avLst/>
          </a:prstGeom>
          <a:solidFill>
            <a:srgbClr val="25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955279" y="5257800"/>
            <a:ext cx="3657600" cy="502920"/>
          </a:xfrm>
          <a:prstGeom prst="rect">
            <a:avLst/>
          </a:prstGeom>
          <a:solidFill>
            <a:srgbClr val="25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2960" y="5330952"/>
            <a:ext cx="30175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Break-even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06240" y="5330952"/>
            <a:ext cx="3474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B0B0C0"/>
                </a:solidFill>
                <a:latin typeface="Calibri"/>
              </a:defRPr>
            </a:pPr>
            <a:r>
              <a:t>6-18 mois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46720" y="5330952"/>
            <a:ext cx="3474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B0B0C0"/>
                </a:solidFill>
                <a:latin typeface="Calibri"/>
              </a:defRPr>
            </a:pPr>
            <a:r>
              <a:t>Jamais (coûts croissants)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31520" y="5852160"/>
            <a:ext cx="3200400" cy="50292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114800" y="5852160"/>
            <a:ext cx="3657600" cy="50292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955279" y="5852160"/>
            <a:ext cx="3657600" cy="50292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2960" y="5925312"/>
            <a:ext cx="30175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Onboarding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06240" y="5925312"/>
            <a:ext cx="3474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B0B0C0"/>
                </a:solidFill>
                <a:latin typeface="Calibri"/>
              </a:defRPr>
            </a:pPr>
            <a:r>
              <a:t>Simple (1 source)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46720" y="5925312"/>
            <a:ext cx="3474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B0B0C0"/>
                </a:solidFill>
                <a:latin typeface="Calibri"/>
              </a:defRPr>
            </a:pPr>
            <a:r>
              <a:t>Complexe (N sources)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45720"/>
            <a:ext cx="12191695" cy="36576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>
                <a:solidFill>
                  <a:srgbClr val="F96167"/>
                </a:solidFill>
                <a:latin typeface="Calibri"/>
              </a:defRPr>
            </a:pPr>
            <a:r>
              <a:t>RECOMMANDATIONS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Quand choisir quoi ?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5029200" cy="438912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5029200" cy="54864"/>
          </a:xfrm>
          <a:prstGeom prst="rect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4389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4EC9B0"/>
                </a:solidFill>
                <a:latin typeface="Calibri"/>
              </a:defRPr>
            </a:pPr>
            <a:r>
              <a:t>Privilégier le code partagé si 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51760"/>
            <a:ext cx="4389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✓  La feature a une durée de vie &gt; 18 mois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154680"/>
            <a:ext cx="4389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✓  Fréquence d'évolution élevée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657600"/>
            <a:ext cx="4389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✓  3+ codebases consumers (ou prévues)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160520"/>
            <a:ext cx="4389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✓  La cohérence UX est critique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663440"/>
            <a:ext cx="4389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✓  L'équipe peut investir dans le setup initial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66360"/>
            <a:ext cx="4389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✓  Le système est en croissance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1828800"/>
            <a:ext cx="5029200" cy="438912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0" y="1828800"/>
            <a:ext cx="5029200" cy="54864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0" y="2011680"/>
            <a:ext cx="4389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FF6B6B"/>
                </a:solidFill>
                <a:latin typeface="Calibri"/>
              </a:defRPr>
            </a:pPr>
            <a:r>
              <a:t>La duplication peut convenir si 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2651760"/>
            <a:ext cx="4389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›  Feature à durée de vie courte (&lt; 6 mois)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3154680"/>
            <a:ext cx="4389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›  Très peu d'évolutions prévues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3657600"/>
            <a:ext cx="4389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›  Codebases très différentes (langages, archi)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4160520"/>
            <a:ext cx="4389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›  Équipes totalement indépendantes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4663440"/>
            <a:ext cx="4389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›  Prototype ou MVP rapide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5166360"/>
            <a:ext cx="4389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›  Pas de besoin de cohérence UX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352190" y="1371600"/>
            <a:ext cx="5486400" cy="5486400"/>
          </a:xfrm>
          <a:prstGeom prst="ellipse">
            <a:avLst/>
          </a:prstGeom>
          <a:solidFill>
            <a:srgbClr val="3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560320"/>
            <a:ext cx="12191695" cy="1371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5200" b="1">
                <a:solidFill>
                  <a:srgbClr val="FFFFFF"/>
                </a:solidFill>
                <a:latin typeface="Calibri"/>
              </a:defRPr>
            </a:pPr>
            <a:r>
              <a:t>QUESTIONS ?</a:t>
            </a:r>
          </a:p>
        </p:txBody>
      </p:sp>
      <p:sp>
        <p:nvSpPr>
          <p:cNvPr id="4" name="Rectangle 3"/>
          <p:cNvSpPr/>
          <p:nvPr/>
        </p:nvSpPr>
        <p:spPr>
          <a:xfrm>
            <a:off x="5180990" y="3931920"/>
            <a:ext cx="1828800" cy="36576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4206240"/>
            <a:ext cx="12191695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600" b="0">
                <a:solidFill>
                  <a:srgbClr val="B0B0C0"/>
                </a:solidFill>
                <a:latin typeface="Calibri"/>
              </a:defRPr>
            </a:pPr>
            <a:r>
              <a:t>Coût Feature — Code Partagé vs Dupliqué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