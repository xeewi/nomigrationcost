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61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2743200"/>
            <a:ext cx="5486400" cy="5486400"/>
          </a:xfrm>
          <a:prstGeom prst="ellipse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  <a:br/>
            <a:r>
              <a:t>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315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SHARED CODE</a:t>
            </a:r>
            <a:br/>
            <a:r>
              <a:t>vs DUPLICATED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Key conclusions from the cost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analysis?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The core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When a feature must exist in several apps: build it once in a shared library, or copy it into each app?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Every cost scales with the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Each cost is a share of the build cost (person-hours × loaded rate). The hourly rate never flips the verdict.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Not a dogmatic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Feature size, number of apps and horizon decide. Either option can win; the analysis shows where the line 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Sourced, with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COCOMO II reuse model, Krüger &amp; Berger 2020, Ray &amp; Kim 2012, France 2026 labor costs. Assumptions are labelled.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KEY 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Upkeep is a recurring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400" b="1">
                <a:solidFill>
                  <a:srgbClr val="F96167"/>
                </a:solidFill>
                <a:latin typeface="Calibri"/>
              </a:defRPr>
            </a:pPr>
            <a:r>
              <a:t>~20%/yr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114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B0B0C0"/>
                </a:solidFill>
                <a:latin typeface="Calibri"/>
              </a:defRPr>
            </a:pPr>
            <a:r>
              <a:t>of the build cost, per copy,</a:t>
            </a:r>
            <a:br/>
            <a:r>
              <a:t>to keep a feature alive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Order of magnitude: DoD rule, Glass 60/60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21208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5-year cost, one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€45,360 (50%)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4903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Upkeep (5 × 20%)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06907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€45,360 (50%)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5720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The choice plays out in the upkeep of the extra copies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5778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Bugs aren't priced separately: fixing them is part of upkeep (no reliable data to do more)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INITIAL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Up-front: roughly equal for 2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4EC9B0"/>
                </a:solidFill>
                <a:latin typeface="Calibri"/>
              </a:defRPr>
            </a:pPr>
            <a:r>
              <a:t>Shared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Build it made to share: ×1.2 (€54,432)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Plug into the other app: 20% (€9,072)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New library setup: 280 h (€11,340)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up-front: €74,844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€63,504 if the library already exists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Duplicated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Build for the first app: €45,360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Copy-adapt into the other: 65% (€29,484)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Adapt to its conventions, its own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up-front: €74,844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Same as sharing for 2 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6172200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Copying is not cheaper up front — the recurring upkeep of the extra copies decides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UPKEEP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decides: upkeep of the extra copies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Every copy is maintained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1.0×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An extra copy costs about as much yearly upkeep as the first (20% of build), sync and repeated fixes included. Ray &amp; Kim: 11–16% of changes get ported between forks.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Copies drift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+0.05/yr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Assumption, no data: extra-copy upkeep grows 0.05 a year, capped at 1.5×. Not exponential: copies that diverge too far stop being synced.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Sharing has upkeep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4%/yr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Per extra app: coordination and breaking-change upgrades (order of magnitude). Plus 24%/yr upkeep of the bigger shared code and 100 h/yr to run a new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F9E795"/>
                </a:solidFill>
                <a:latin typeface="Calibri"/>
              </a:defRPr>
            </a:pPr>
            <a:r>
              <a:t>Reference case: sharing €16,751/yr vs duplication €18,144 → €19,958/yr, paid every year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5-YEAR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Reference scenario (France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228600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3154679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79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Year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4320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54864" cy="54864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346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Shared 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79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39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€74,844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€91,595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€125,096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€158,598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47472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74720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5661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Duplicated code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79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39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€74,844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€92,988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€130,637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€170,100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3891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Key observations: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Year 0: same up-front cost (1,120 h feature, team at €40.50/h, 2 apps, new library)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Sharing is never more expensive, so it pays off from the start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Year 5: duplication costs €11,502 more (7%) — €43,092 more if the library already exists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Thin margin for 2 apps: generalization G ≥ 1.33 or extra-copy upkeep e0 &lt; 0.75 flips the verdict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Read from the same cost curves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297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4EC9B0"/>
                </a:solidFill>
                <a:latin typeface="Calibri"/>
              </a:defRPr>
            </a:pPr>
            <a:r>
              <a:t>Month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297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Break-even in the</a:t>
            </a:r>
            <a:br/>
            <a:r>
              <a:t>reference scenario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Small feature (140 h, new library)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3891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4EC9B0"/>
                </a:solidFill>
                <a:latin typeface="Calibri"/>
              </a:defRPr>
            </a:pPr>
            <a:r>
              <a:t>Never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389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Over 5 years, sharing costs</a:t>
            </a:r>
            <a:br/>
            <a:r>
              <a:t>2.2× more than copying</a:t>
            </a:r>
            <a:br/>
            <a:r>
              <a:t>(€47,466 vs €21,263)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4EC9B0"/>
                </a:solidFill>
                <a:latin typeface="Calibri"/>
              </a:defRPr>
            </a:pPr>
            <a:r>
              <a:t>Favours sharing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Large feature (&gt; ~820 h for 2 apps)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3+ apps (threshold drops to ~340 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A shared library already exists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Long horizon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6B6B"/>
                </a:solidFill>
                <a:latin typeface="Calibri"/>
              </a:defRPr>
            </a:pPr>
            <a:r>
              <a:t>Favours copying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Small feature needing a new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Short horizon (1 year: needs &gt; ~1,030 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Cheap copies, or costly generalization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Copies meant to diverge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SCALE FACTOR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more apps, the more sharing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2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B0B0C0"/>
                </a:solidFill>
                <a:latin typeface="Calibri"/>
              </a:defRPr>
            </a:pPr>
            <a:r>
              <a:t>1.07x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duplicated / shared cost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Sharing saves</a:t>
            </a:r>
            <a:br/>
            <a:r>
              <a:t>~€11,500 over 5 years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3 apps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9E795"/>
                </a:solidFill>
                <a:latin typeface="Calibri"/>
              </a:defRPr>
            </a:pPr>
            <a:r>
              <a:t>1.41x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duplicated / shared cost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Sharing saves</a:t>
            </a:r>
            <a:br/>
            <a:r>
              <a:t>~€72,700 over 5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5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4EC9B0"/>
                </a:solidFill>
                <a:latin typeface="Calibri"/>
              </a:defRPr>
            </a:pPr>
            <a:r>
              <a:t>1.92x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duplicated / shared cost 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Sharing saves</a:t>
            </a:r>
            <a:br/>
            <a:r>
              <a:t>~€195,200 over 5 years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3949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E795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9875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Each extra copy costs 65% of the build up front, then a full share of upkeep every year (rising as it drifts). Each extra app on a shared library costs 20% up front, then 4%/yr.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COUNTER-EVIDENCE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the numbers don't say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Clones are often harmless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Up to 71% of clones judged beneficial</a:t>
            </a:r>
            <a:br/>
            <a:r>
              <a:t>Clones not more defect-prone (Rahman 2012)</a:t>
            </a:r>
            <a:br/>
            <a:r>
              <a:t>→ Not every copy is a liability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The wrong abstraction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“Duplication is far cheaper than the</a:t>
            </a:r>
            <a:br/>
            <a:r>
              <a:t>wrong abstraction” (Sandi Metz)</a:t>
            </a:r>
            <a:br/>
            <a:r>
              <a:t>→ Copies meant to diverge are not a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Breaking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14.8% of API changes break (Xavier 2017)</a:t>
            </a:r>
            <a:br/>
            <a:r>
              <a:t>81.5% of systems keep old deps (Kula 2018)</a:t>
            </a:r>
            <a:br/>
            <a:r>
              <a:t>→ Priced only roughly: 4%/yr per 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Not in the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Time to market, release bottleneck</a:t>
            </a:r>
            <a:br/>
            <a:r>
              <a:t>UX consistency, intended divergence</a:t>
            </a:r>
            <a:br/>
            <a:r>
              <a:t>→ No discounting (NPV) either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MEASURED VS ASSUMED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the numbers come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2004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600" b="1">
                <a:solidFill>
                  <a:srgbClr val="FF6B6B"/>
                </a:solidFill>
                <a:latin typeface="Calibri"/>
              </a:defRPr>
            </a:pPr>
            <a:r>
              <a:t>4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B0B0C0"/>
                </a:solidFill>
                <a:latin typeface="Calibri"/>
              </a:defRPr>
            </a:pPr>
            <a:r>
              <a:t>model factors</a:t>
            </a:r>
            <a:br/>
            <a:r>
              <a:t>rest on published</a:t>
            </a:r>
            <a:br/>
            <a:r>
              <a:t>measurements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707080"/>
                </a:solidFill>
                <a:latin typeface="Calibri"/>
              </a:defRPr>
            </a:pPr>
            <a:r>
              <a:t>COCOMO II, Krüger &amp; Berger 2020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713232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Assumptions (no solid data)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Extra-copy upkeep e0 = 1.0 × the first copy (hint: Ray &amp; Kim 2012)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44368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Drift +0.05/yr, capped at 1.5× — not exponential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28415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Coordination + upgrades: 4%/yr of build cost per extra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12463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New library: 280 h setup, 100 h/yr running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26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Measured factors (published ranges)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Generalization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×1.2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9E795"/>
                </a:solidFill>
                <a:latin typeface="Calibri"/>
              </a:defRPr>
            </a:pPr>
            <a:r>
              <a:t>×0.65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A500"/>
                </a:solidFill>
                <a:latin typeface="Calibri"/>
              </a:defRPr>
            </a:pPr>
            <a:r>
              <a:t>×0.2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39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Upkeep / year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39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6B6B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943600"/>
            <a:ext cx="9601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707080"/>
                </a:solidFill>
                <a:latin typeface="Calibri"/>
              </a:defRPr>
            </a:pPr>
            <a:r>
              <a:t>Bugs aren't priced on their own: the 1-10-100 rule isn't supported by data (Menzies et al. 2017)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Global comparison (% of build cost)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9E795"/>
                </a:solidFill>
                <a:latin typeface="Calibri"/>
              </a:defRPr>
            </a:pPr>
            <a:r>
              <a:t>Dimension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4EC9B0"/>
                </a:solidFill>
                <a:latin typeface="Calibri"/>
              </a:defRPr>
            </a:pPr>
            <a:r>
              <a:t>Shared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6B6B"/>
                </a:solidFill>
                <a:latin typeface="Calibri"/>
              </a:defRPr>
            </a:pPr>
            <a:r>
              <a:t>Duplicated Code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Up-front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120% + 20% per extra app +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100% + 65% per extra copy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8036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Yearly upkeep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24% + 4% per extra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20% + ~20% per extra copy, rising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7472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Bug fixes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Once, in one 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In every copy (inside upkeep)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06908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0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Same code, same behavior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Can drift (sometimes on purpose)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66344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0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79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Each extra 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Cheap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Expensive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25780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0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55279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Break-even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Day one (reference case)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Wins for small, short-lived features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85216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0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5279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Main risk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Wrong abstraction, breaking changes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Missed fixes, drift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When to choose what?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4EC9B0"/>
                </a:solidFill>
                <a:latin typeface="Calibri"/>
              </a:defRPr>
            </a:pPr>
            <a:r>
              <a:t>Prefer shared code if: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3+ apps need it (or are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Large feature (&gt; ~800 h for 2 apps)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Horizon of several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A shared library already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The apps should behave the 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Generalization is cheap (G ≤ ~1.3)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Copying may be better if: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Small feature or short horizon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 new library just for this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Copies are expected to diverge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Very different apps (costly to generalize)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Prototype or MVP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Teams can't coordinate releases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2190" y="1371600"/>
            <a:ext cx="5486400" cy="5486400"/>
          </a:xfrm>
          <a:prstGeom prst="ellipse">
            <a:avLst/>
          </a:prstGeom>
          <a:solidFill>
            <a:srgbClr val="3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3931920"/>
            <a:ext cx="182880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Feature Cost — Shared Code vs Duplicated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